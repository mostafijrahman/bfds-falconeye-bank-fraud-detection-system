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82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1954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1F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36576" cy="514350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76288" y="29260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278624" y="29260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80960" y="29260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83296" y="29260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485632" y="29260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76288" y="111556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278624" y="111556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680960" y="111556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83296" y="111556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85632" y="111556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76288" y="193852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78624" y="193852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80960" y="193852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83296" y="193852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85632" y="193852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76288" y="276148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78624" y="276148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80960" y="276148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83296" y="276148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485632" y="276148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76288" y="358444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278624" y="358444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680960" y="358444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083296" y="358444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85632" y="358444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76288" y="440740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78624" y="440740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80960" y="440740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083296" y="440740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485632" y="4407408"/>
            <a:ext cx="54864" cy="54864"/>
          </a:xfrm>
          <a:prstGeom prst="ellipse">
            <a:avLst/>
          </a:prstGeom>
          <a:solidFill>
            <a:srgbClr val="1B335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822960"/>
            <a:ext cx="1371600" cy="137160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502920" y="640080"/>
            <a:ext cx="1920240" cy="292608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02920" y="6400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 DETECTION SYSTEM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02920" y="10972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BFDS FalconEye</a:t>
            </a:r>
            <a:endParaRPr lang="en-US" sz="5400" dirty="0"/>
          </a:p>
        </p:txBody>
      </p:sp>
      <p:sp>
        <p:nvSpPr>
          <p:cNvPr id="38" name="Text 35"/>
          <p:cNvSpPr/>
          <p:nvPr/>
        </p:nvSpPr>
        <p:spPr>
          <a:xfrm>
            <a:off x="502920" y="23317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Detection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Investigation Platform</a:t>
            </a:r>
            <a:endParaRPr lang="en-US" sz="2000" dirty="0"/>
          </a:p>
        </p:txBody>
      </p:sp>
      <p:sp>
        <p:nvSpPr>
          <p:cNvPr id="39" name="Shape 36"/>
          <p:cNvSpPr/>
          <p:nvPr/>
        </p:nvSpPr>
        <p:spPr>
          <a:xfrm>
            <a:off x="502920" y="3337560"/>
            <a:ext cx="3200400" cy="27432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02920" y="3493008"/>
            <a:ext cx="5029200" cy="49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</a:p>
          <a:p>
            <a:r>
              <a:rPr lang="en-US" sz="12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Mostafijur Rahman  Student ID: M25011974</a:t>
            </a:r>
          </a:p>
          <a:p>
            <a:r>
              <a:rPr lang="en-US" sz="12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Jyotish Batra                    Student ID: J24020471 </a:t>
            </a:r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02920" y="398047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23 April, 2026</a:t>
            </a:r>
            <a:endParaRPr lang="en-US" sz="1200" dirty="0"/>
          </a:p>
        </p:txBody>
      </p:sp>
      <p:sp>
        <p:nvSpPr>
          <p:cNvPr id="43" name="Rectangle 2">
            <a:extLst>
              <a:ext uri="{FF2B5EF4-FFF2-40B4-BE49-F238E27FC236}">
                <a16:creationId xmlns:a16="http://schemas.microsoft.com/office/drawing/2014/main" id="{BC9D360B-DA31-7528-39A2-0526B05F9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Student ID: M25011974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79476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4864" cy="182880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097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1069848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149047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fraud detection platform combining SQL Server automation, Flask REST API, and web-based UI.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09160" y="86868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09160" y="868680"/>
            <a:ext cx="54864" cy="18288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097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7528" y="1069848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Purpose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10328" y="149047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suspicious transaction patterns, alert investigators, and provide real-time monitoring.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0040" y="292608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20040" y="2926080"/>
            <a:ext cx="54864" cy="18288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1546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78408" y="3127248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Value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21208" y="354787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rule-based detection with role-based access control for secure investigation workflows.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709160" y="2926080"/>
            <a:ext cx="41605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709160" y="2926080"/>
            <a:ext cx="54864" cy="182880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1546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67528" y="3127248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10328" y="354787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Flask · SQL Server · HTML / JavaScript · bcrypt password hashing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79476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42616" cy="3063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642616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1124712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874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Layer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35000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· Tables · Triggers · Stored Procedures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17520" y="2372868"/>
            <a:ext cx="246888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rot="5400000">
            <a:off x="3209544" y="2290572"/>
            <a:ext cx="164592" cy="219456"/>
          </a:xfrm>
          <a:prstGeom prst="triangl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01568" y="868680"/>
            <a:ext cx="2560320" cy="3063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401568" y="868680"/>
            <a:ext cx="2560320" cy="457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3108" y="1124712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64408" y="1874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Layer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01568" y="235000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· JWT Auth · ODBC · 20+ Endpoints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865876" y="2378456"/>
            <a:ext cx="246888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 rot="5400000">
            <a:off x="6072124" y="2290572"/>
            <a:ext cx="164592" cy="219456"/>
          </a:xfrm>
          <a:prstGeom prst="triangl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263640" y="868680"/>
            <a:ext cx="2642616" cy="3063240"/>
          </a:xfrm>
          <a:prstGeom prst="rect">
            <a:avLst/>
          </a:prstGeom>
          <a:solidFill>
            <a:srgbClr val="0D1F3C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208776" y="868680"/>
            <a:ext cx="2697480" cy="54864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7476" y="1124712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08776" y="18745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 Layer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45936" y="235000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Dashboard · Real-Time Monitoring · Role-Based Navigation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20040" y="4087368"/>
            <a:ext cx="8503920" cy="658368"/>
          </a:xfrm>
          <a:prstGeom prst="rect">
            <a:avLst/>
          </a:prstGeom>
          <a:solidFill>
            <a:srgbClr val="0D1F3C"/>
          </a:solidFill>
          <a:ln w="1016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11480" y="408736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1783080" y="408736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4A7F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2093976" y="408736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Triggers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3465576" y="408736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4A7F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3776472" y="408736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Rules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5148072" y="408736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4A7F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5458968" y="408736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830568" y="408736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4A7F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7141464" y="408736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Schema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79476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mnt/user-data/uploads/1776900397987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" y="886968"/>
            <a:ext cx="8375904" cy="38587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 Detection Rules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79476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251960" cy="3840480"/>
          </a:xfrm>
          <a:prstGeom prst="rect">
            <a:avLst/>
          </a:prstGeom>
          <a:solidFill>
            <a:srgbClr val="0D1F3C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251960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98755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1: Geographic Impossibility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4068" y="1659636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9808" y="15819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transactions from physically impossible locations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4068" y="2281428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49808" y="220370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900 km/h (commercial airline speed ceiling)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4068" y="2903220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49808" y="282549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Haversine formula for great-circle distance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4068" y="3525012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49808" y="34472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declines suspicious transactions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54880" y="841248"/>
            <a:ext cx="4251960" cy="3840480"/>
          </a:xfrm>
          <a:prstGeom prst="rect">
            <a:avLst/>
          </a:prstGeom>
          <a:solidFill>
            <a:srgbClr val="0D1F3C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54880" y="841248"/>
            <a:ext cx="425196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987552"/>
            <a:ext cx="438912" cy="43891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58968" y="987552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2: Structured Transactions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4978908" y="1659636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184648" y="158191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transactions just below reporting thresholds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978908" y="2281428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184648" y="220370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multiple small transactions to avoid detection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978908" y="2903220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184648" y="282549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 analyzes transaction patterns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978908" y="3525012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184648" y="34472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alerts for suspicious structuring behavior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Implementation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79476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54864" cy="384048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9692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(Python / Flask)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16636" y="1577340"/>
            <a:ext cx="100584" cy="100584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149961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with 20+ endpoints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16636" y="2125980"/>
            <a:ext cx="100584" cy="100584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204825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bcrypt password hashing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16636" y="2674620"/>
            <a:ext cx="100584" cy="100584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31520" y="259689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ODBC connection to SQL Server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16636" y="3223260"/>
            <a:ext cx="100584" cy="100584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" y="31455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enabled for cross-origin requests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16636" y="3771900"/>
            <a:ext cx="100584" cy="100584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1520" y="369417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Environment-based configuration (.env)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663440" y="841248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663440" y="841248"/>
            <a:ext cx="54864" cy="384048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987552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03520" y="96926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(HTML / JavaScript)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4860036" y="1577340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074920" y="149961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application architecture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860036" y="2125980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074920" y="204825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 loading from API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860036" y="2674620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074920" y="259689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navigation filtering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860036" y="3223260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5074920" y="31455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forms for record creation &amp; updates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4860036" y="3771900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5074920" y="369417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statistics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 Control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79476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06040" cy="2011680"/>
          </a:xfrm>
          <a:prstGeom prst="rect">
            <a:avLst/>
          </a:prstGeom>
          <a:solidFill>
            <a:srgbClr val="0D1F3C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871216"/>
            <a:ext cx="260604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94460" y="1078992"/>
            <a:ext cx="731520" cy="731520"/>
          </a:xfrm>
          <a:prstGeom prst="ellipse">
            <a:avLst/>
          </a:prstGeom>
          <a:solidFill>
            <a:srgbClr val="FF6B3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19272" y="914400"/>
            <a:ext cx="2606040" cy="2011680"/>
          </a:xfrm>
          <a:prstGeom prst="rect">
            <a:avLst/>
          </a:prstGeom>
          <a:solidFill>
            <a:srgbClr val="0D1F3C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319272" y="2871216"/>
            <a:ext cx="2606040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56532" y="1078992"/>
            <a:ext cx="731520" cy="731520"/>
          </a:xfrm>
          <a:prstGeom prst="ellipse">
            <a:avLst/>
          </a:prstGeom>
          <a:solidFill>
            <a:srgbClr val="00C2C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181344" y="914400"/>
            <a:ext cx="2606040" cy="2011680"/>
          </a:xfrm>
          <a:prstGeom prst="rect">
            <a:avLst/>
          </a:prstGeom>
          <a:solidFill>
            <a:srgbClr val="0D1F3C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81344" y="2871216"/>
            <a:ext cx="2606040" cy="54864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18604" y="1078992"/>
            <a:ext cx="731520" cy="731520"/>
          </a:xfrm>
          <a:prstGeom prst="ellipse">
            <a:avLst/>
          </a:prstGeom>
          <a:solidFill>
            <a:srgbClr val="00C89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8503920" cy="1645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218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6636" y="3607308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5387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employee IDs  (EMP-{ROLE}-{XXX})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51276" y="3607308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66160" y="35387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5916" y="3607308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353872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attempt tracking with account lockout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6636" y="4110228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4041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authentication audit logging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51276" y="4110228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66160" y="4041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(MFA) support</a:t>
            </a:r>
            <a:endParaRPr lang="en-US" sz="105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20" y="1216152"/>
            <a:ext cx="457200" cy="457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57200" y="19202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 Admin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66928" y="2304288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 &amp; user management</a:t>
            </a:r>
            <a:endParaRPr lang="en-US" sz="10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5764" y="1216152"/>
            <a:ext cx="457200" cy="4572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181344" y="19202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6291072" y="2304288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records, update merchant &amp; user data</a:t>
            </a:r>
            <a:endParaRPr lang="en-US" sz="105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692" y="1216152"/>
            <a:ext cx="457200" cy="4572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3319272" y="19202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Analyst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3429000" y="2304288"/>
            <a:ext cx="2386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investigate alerts, update transactions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Fraud Detection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79476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Detection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75488" cy="475488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116128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 Inserted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3990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added to transactions table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645920"/>
            <a:ext cx="91440" cy="228600"/>
          </a:xfrm>
          <a:prstGeom prst="rect">
            <a:avLst/>
          </a:prstGeom>
          <a:solidFill>
            <a:srgbClr val="00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911096"/>
            <a:ext cx="475488" cy="475488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1911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1929384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Trigger Fires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1671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INSERT trigger activates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414016"/>
            <a:ext cx="91440" cy="228600"/>
          </a:xfrm>
          <a:prstGeom prst="rect">
            <a:avLst/>
          </a:prstGeom>
          <a:solidFill>
            <a:srgbClr val="00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679192"/>
            <a:ext cx="475488" cy="475488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679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2697480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Rules Evaluated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29352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 checks fraud rules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182112"/>
            <a:ext cx="91440" cy="228600"/>
          </a:xfrm>
          <a:prstGeom prst="rect">
            <a:avLst/>
          </a:prstGeom>
          <a:solidFill>
            <a:srgbClr val="00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447288"/>
            <a:ext cx="475488" cy="475488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3447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" y="3465576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Violation Detected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37033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set to 'declined' + alert created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950208"/>
            <a:ext cx="91440" cy="228600"/>
          </a:xfrm>
          <a:prstGeom prst="rect">
            <a:avLst/>
          </a:prstGeom>
          <a:solidFill>
            <a:srgbClr val="00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4215384"/>
            <a:ext cx="475488" cy="475488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42153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" y="4233672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Updated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2688" y="44714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for investigator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7772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Investigation Workflow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1143000"/>
            <a:ext cx="3977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46320" y="1143000"/>
            <a:ext cx="54864" cy="74980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749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Analyst Reviews Alert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74920" y="1527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details and transaction context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2039112"/>
            <a:ext cx="3977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46320" y="2039112"/>
            <a:ext cx="54864" cy="74980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7492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Updates Investigation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74920" y="2423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notes and findings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2935224"/>
            <a:ext cx="3977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846320" y="2935224"/>
            <a:ext cx="54864" cy="74980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74920" y="3026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Progression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74920" y="3319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→ acknowledged → resolved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46320" y="3831336"/>
            <a:ext cx="3977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846320" y="3831336"/>
            <a:ext cx="54864" cy="74980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74920" y="39227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 Positive Reversal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74920" y="42153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status can be corrected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 &amp; Capabilities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79476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54864" cy="388620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755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8408" y="96926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Detection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9496" y="1618488"/>
            <a:ext cx="109728" cy="109728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58952" y="155448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trigger-based fraud detection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" y="2240280"/>
            <a:ext cx="109728" cy="109728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58952" y="217627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 generation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9496" y="2862072"/>
            <a:ext cx="109728" cy="109728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58952" y="2798064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status updates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64408" y="841248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264408" y="841248"/>
            <a:ext cx="54864" cy="38862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987552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922776" y="96926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Investigation Tools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483864" y="1618488"/>
            <a:ext cx="109728" cy="10972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3703320" y="155448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filtering by status and type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483864" y="2240280"/>
            <a:ext cx="109728" cy="10972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703320" y="217627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audit trail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483864" y="2862072"/>
            <a:ext cx="109728" cy="10972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3703320" y="2798064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visualization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483864" y="3483864"/>
            <a:ext cx="109728" cy="10972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703320" y="3419856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trust management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208776" y="841248"/>
            <a:ext cx="274320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6208776" y="841248"/>
            <a:ext cx="54864" cy="3886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987552"/>
            <a:ext cx="384048" cy="3840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867144" y="96926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Compliance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6428232" y="1618488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647688" y="1554480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logging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428232" y="2240280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647688" y="2176272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428232" y="2862072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6647688" y="2798064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blacklisting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428232" y="3483864"/>
            <a:ext cx="109728" cy="10972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6647688" y="3419856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lockout after failed attempts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79476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160520" cy="3886200"/>
          </a:xfrm>
          <a:prstGeom prst="rect">
            <a:avLst/>
          </a:prstGeom>
          <a:solidFill>
            <a:srgbClr val="0D1F3C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4160520" cy="54864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96926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Environment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6636" y="1522476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145389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3.9+  virtual environment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6636" y="2180844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11226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2016+  (or Azure SQL)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6636" y="2839212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27706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ODBC Driver 17 / 18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6636" y="3497580"/>
            <a:ext cx="100584" cy="10058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9808" y="342900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development server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841248"/>
            <a:ext cx="416052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28032" y="969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Considerations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60036" y="1522476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61204" y="14036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50892" y="2002536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84064" y="1917107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TLS encryption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60036" y="2414016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61204" y="23865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CORS origins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2939965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61204" y="28564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SQL login (minimal permissions)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46320" y="3497580"/>
            <a:ext cx="100584" cy="10058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61204" y="33467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JWT secrets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Status &amp; Future Enhancements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379476"/>
            <a:ext cx="146304" cy="146304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16052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41248"/>
            <a:ext cx="54864" cy="3886200"/>
          </a:xfrm>
          <a:prstGeom prst="rect">
            <a:avLst/>
          </a:prstGeom>
          <a:solidFill>
            <a:srgbClr val="00C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9692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Status  (v1.0)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53896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0392" y="14538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database schema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1109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0392" y="19110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authentication system</a:t>
            </a:r>
            <a:endParaRPr lang="en-US" sz="11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6829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0392" y="23682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impossibility detection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25496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50392" y="28254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transaction pattern detection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82696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50392" y="32826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with JWT authentication</a:t>
            </a:r>
            <a:endParaRPr lang="en-US" sz="11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39896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50392" y="37398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monitoring UI</a:t>
            </a:r>
            <a:endParaRPr lang="en-US" sz="11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97096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50392" y="41970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 generation</a:t>
            </a:r>
            <a:endParaRPr lang="en-US" sz="1150" dirty="0"/>
          </a:p>
        </p:txBody>
      </p:sp>
      <p:sp>
        <p:nvSpPr>
          <p:cNvPr id="22" name="Shape 13"/>
          <p:cNvSpPr/>
          <p:nvPr/>
        </p:nvSpPr>
        <p:spPr>
          <a:xfrm>
            <a:off x="4663440" y="841248"/>
            <a:ext cx="4160520" cy="3886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4"/>
          <p:cNvSpPr/>
          <p:nvPr/>
        </p:nvSpPr>
        <p:spPr>
          <a:xfrm>
            <a:off x="4663440" y="841248"/>
            <a:ext cx="54864" cy="388620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969264"/>
            <a:ext cx="347472" cy="34747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48656" y="9875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7A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1350" dirty="0"/>
          </a:p>
        </p:txBody>
      </p:sp>
      <p:sp>
        <p:nvSpPr>
          <p:cNvPr id="26" name="Shape 16"/>
          <p:cNvSpPr/>
          <p:nvPr/>
        </p:nvSpPr>
        <p:spPr>
          <a:xfrm>
            <a:off x="4837176" y="1563624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7"/>
          <p:cNvSpPr/>
          <p:nvPr/>
        </p:nvSpPr>
        <p:spPr>
          <a:xfrm>
            <a:off x="5074920" y="150876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learning-based fraud detection</a:t>
            </a:r>
            <a:endParaRPr lang="en-US" sz="1150" dirty="0"/>
          </a:p>
        </p:txBody>
      </p:sp>
      <p:sp>
        <p:nvSpPr>
          <p:cNvPr id="28" name="Shape 18"/>
          <p:cNvSpPr/>
          <p:nvPr/>
        </p:nvSpPr>
        <p:spPr>
          <a:xfrm>
            <a:off x="4837176" y="2185416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19"/>
          <p:cNvSpPr/>
          <p:nvPr/>
        </p:nvSpPr>
        <p:spPr>
          <a:xfrm>
            <a:off x="5074920" y="213055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transaction streaming</a:t>
            </a:r>
            <a:endParaRPr lang="en-US" sz="1150" dirty="0"/>
          </a:p>
        </p:txBody>
      </p:sp>
      <p:sp>
        <p:nvSpPr>
          <p:cNvPr id="30" name="Shape 20"/>
          <p:cNvSpPr/>
          <p:nvPr/>
        </p:nvSpPr>
        <p:spPr>
          <a:xfrm>
            <a:off x="4837176" y="2807208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1"/>
          <p:cNvSpPr/>
          <p:nvPr/>
        </p:nvSpPr>
        <p:spPr>
          <a:xfrm>
            <a:off x="5074920" y="275234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4837176" y="3429000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3"/>
          <p:cNvSpPr/>
          <p:nvPr/>
        </p:nvSpPr>
        <p:spPr>
          <a:xfrm>
            <a:off x="5074920" y="337413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4837176" y="4050792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5"/>
          <p:cNvSpPr/>
          <p:nvPr/>
        </p:nvSpPr>
        <p:spPr>
          <a:xfrm>
            <a:off x="5074920" y="399592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external fraud databases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50292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457200" y="3456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1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FalconEye  ·  Bank Fraud Detection System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2E5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E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623</Words>
  <Application>Microsoft Office PowerPoint</Application>
  <PresentationFormat>On-screen Show (16:9)</PresentationFormat>
  <Paragraphs>165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BFDS FalconEye – Bank Fraud Detection System</dc:title>
  <dc:subject>PptxGenJS Presentation</dc:subject>
  <dc:creator>PptxGenJS</dc:creator>
  <cp:lastModifiedBy>Md Mostafijur Rahman</cp:lastModifiedBy>
  <cp:revision>3</cp:revision>
  <dcterms:created xsi:type="dcterms:W3CDTF">2026-04-22T23:29:38Z</dcterms:created>
  <dcterms:modified xsi:type="dcterms:W3CDTF">2026-04-23T03:38:54Z</dcterms:modified>
</cp:coreProperties>
</file>